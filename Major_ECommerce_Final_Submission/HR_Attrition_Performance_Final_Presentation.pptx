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172A"/>
                </a:solidFill>
                <a:latin typeface="Aptos Display"/>
              </a:rPr>
              <a:t>HR ATTRITION &amp;
PERFORMANCE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632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334155"/>
                </a:solidFill>
                <a:latin typeface="Aptos"/>
              </a:rPr>
              <a:t>End-to-end Data Analytics Major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160520"/>
            <a:ext cx="2240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2563EB"/>
                </a:solidFill>
                <a:latin typeface="Aptos Display"/>
              </a:rPr>
              <a:t>IBM HR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4160520"/>
            <a:ext cx="2240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16A34A"/>
                </a:solidFill>
                <a:latin typeface="Aptos Display"/>
              </a:rPr>
              <a:t>2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Aptos"/>
              </a:rPr>
              <a:t>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4160520"/>
            <a:ext cx="2240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2563EB"/>
                </a:solidFill>
                <a:latin typeface="Aptos Display"/>
              </a:rPr>
              <a:t>2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Aptos"/>
              </a:rPr>
              <a:t>BI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4160520"/>
            <a:ext cx="2240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DC2626"/>
                </a:solidFill>
                <a:latin typeface="Aptos Display"/>
              </a:rPr>
              <a:t>4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Aptos"/>
              </a:rPr>
              <a:t>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 Display"/>
              </a:rPr>
              <a:t>Business Problem &amp; Project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ptos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  <a:latin typeface="Aptos"/>
              </a:defRPr>
            </a:pPr>
            <a:r>
              <a:t>• Employee turnover creates recruitment, training and productivity costs.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  <a:latin typeface="Aptos"/>
              </a:defRPr>
            </a:pPr>
            <a:r>
              <a:t>• HR teams need to understand where attrition is concentrated.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  <a:latin typeface="Aptos"/>
              </a:defRPr>
            </a:pPr>
            <a:r>
              <a:t>• Predictive analysis can help prioritize groups for further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17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ptos"/>
              </a:rPr>
              <a:t>THE GOAL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83080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2563EB"/>
                </a:solidFill>
                <a:latin typeface="Aptos Display"/>
              </a:rPr>
              <a:t>Patterns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Aptos"/>
              </a:rPr>
              <a:t>UNDERSTAND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783080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16A34A"/>
                </a:solidFill>
                <a:latin typeface="Aptos Display"/>
              </a:rPr>
              <a:t>Risk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Aptos"/>
              </a:rPr>
              <a:t>PREDICT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246120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2563EB"/>
                </a:solidFill>
                <a:latin typeface="Aptos Display"/>
              </a:rPr>
              <a:t>Drivers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Aptos"/>
              </a:rPr>
              <a:t>ANALYZE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3246120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DC2626"/>
                </a:solidFill>
                <a:latin typeface="Aptos Display"/>
              </a:rPr>
              <a:t>Retention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 Display"/>
              </a:rPr>
              <a:t>Data Preparation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2563EB"/>
                </a:solidFill>
                <a:latin typeface="Aptos Display"/>
              </a:rPr>
              <a:t>1,470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Aptos"/>
              </a:rPr>
              <a:t>EMPLOYEE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41732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16A34A"/>
                </a:solidFill>
                <a:latin typeface="Aptos Display"/>
              </a:rPr>
              <a:t>35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41732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2563EB"/>
                </a:solidFill>
                <a:latin typeface="Aptos Display"/>
              </a:rPr>
              <a:t>Attrition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Aptos"/>
              </a:rPr>
              <a:t>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41732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DC2626"/>
                </a:solidFill>
                <a:latin typeface="Aptos Display"/>
              </a:rPr>
              <a:t>Clean Data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Aptos"/>
              </a:rPr>
              <a:t>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ptos"/>
              </a:rPr>
              <a:t>CLEANING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Aptos"/>
              </a:defRPr>
            </a:pPr>
            <a:r>
              <a:t>• Duplicate removal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Aptos"/>
              </a:defRPr>
            </a:pPr>
            <a:r>
              <a:t>• Categorical standardization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Aptos"/>
              </a:defRPr>
            </a:pPr>
            <a:r>
              <a:t>• Numeric conversion and median imputation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Aptos"/>
              </a:defRPr>
            </a:pPr>
            <a:r>
              <a:t>• Binary AttritionFlag creation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063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ptos"/>
              </a:rPr>
              <a:t>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3832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Aptos"/>
              </a:defRPr>
            </a:pPr>
            <a:r>
              <a:t>• OvertimeFlag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Aptos"/>
              </a:defRPr>
            </a:pPr>
            <a:r>
              <a:t>• IncomePerYearAtCompany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Aptos"/>
              </a:defRPr>
            </a:pPr>
            <a:r>
              <a:t>• PromotionGap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 Display"/>
              </a:rPr>
              <a:t>Machine Learning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Held-out test set • 75:25 stratified split • threshold = 0.5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743200" cy="566928"/>
          </a:xfrm>
          <a:prstGeom prst="rect">
            <a:avLst/>
          </a:prstGeom>
          <a:solidFill>
            <a:srgbClr val="0F172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508760"/>
            <a:ext cx="1508760" cy="566928"/>
          </a:xfrm>
          <a:prstGeom prst="rect">
            <a:avLst/>
          </a:prstGeom>
          <a:solidFill>
            <a:srgbClr val="0F172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ROC-AUC</a:t>
            </a:r>
          </a:p>
        </p:txBody>
      </p:sp>
      <p:sp>
        <p:nvSpPr>
          <p:cNvPr id="7" name="Rectangle 6"/>
          <p:cNvSpPr/>
          <p:nvPr/>
        </p:nvSpPr>
        <p:spPr>
          <a:xfrm>
            <a:off x="4983480" y="1508760"/>
            <a:ext cx="1508760" cy="566928"/>
          </a:xfrm>
          <a:prstGeom prst="rect">
            <a:avLst/>
          </a:prstGeom>
          <a:solidFill>
            <a:srgbClr val="0F172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508760"/>
            <a:ext cx="1508760" cy="566928"/>
          </a:xfrm>
          <a:prstGeom prst="rect">
            <a:avLst/>
          </a:prstGeom>
          <a:solidFill>
            <a:srgbClr val="0F172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1508760"/>
            <a:ext cx="1508760" cy="566928"/>
          </a:xfrm>
          <a:prstGeom prst="rect">
            <a:avLst/>
          </a:prstGeom>
          <a:solidFill>
            <a:srgbClr val="0F172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0" y="1508760"/>
            <a:ext cx="1508760" cy="566928"/>
          </a:xfrm>
          <a:prstGeom prst="rect">
            <a:avLst/>
          </a:prstGeom>
          <a:solidFill>
            <a:srgbClr val="0F172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075688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334155"/>
                </a:solidFill>
                <a:latin typeface="Aptos"/>
              </a:rPr>
              <a:t>Logistic Regression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075688"/>
            <a:ext cx="1508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334155"/>
                </a:solidFill>
                <a:latin typeface="Aptos"/>
              </a:rPr>
              <a:t>0.7510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80" y="2075688"/>
            <a:ext cx="1508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334155"/>
                </a:solidFill>
                <a:latin typeface="Aptos"/>
              </a:rPr>
              <a:t>0.7446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075688"/>
            <a:ext cx="1508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334155"/>
                </a:solidFill>
                <a:latin typeface="Aptos"/>
              </a:rPr>
              <a:t>0.3394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075688"/>
            <a:ext cx="1508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334155"/>
                </a:solidFill>
                <a:latin typeface="Aptos"/>
              </a:rPr>
              <a:t>0.6271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2075688"/>
            <a:ext cx="1508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334155"/>
                </a:solidFill>
                <a:latin typeface="Aptos"/>
              </a:rPr>
              <a:t>0.4405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34056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334155"/>
                </a:solidFill>
                <a:latin typeface="Aptos"/>
              </a:rPr>
              <a:t>Random Forest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2734056"/>
            <a:ext cx="1508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334155"/>
                </a:solidFill>
                <a:latin typeface="Aptos"/>
              </a:rPr>
              <a:t>0.7532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3480" y="2734056"/>
            <a:ext cx="1508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334155"/>
                </a:solidFill>
                <a:latin typeface="Aptos"/>
              </a:rPr>
              <a:t>0.8370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734056"/>
            <a:ext cx="1508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334155"/>
                </a:solidFill>
                <a:latin typeface="Aptos"/>
              </a:rPr>
              <a:t>0.4902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734056"/>
            <a:ext cx="1508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334155"/>
                </a:solidFill>
                <a:latin typeface="Aptos"/>
              </a:rPr>
              <a:t>0.4237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2734056"/>
            <a:ext cx="1508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334155"/>
                </a:solidFill>
                <a:latin typeface="Aptos"/>
              </a:rPr>
              <a:t>0.4545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977639"/>
            <a:ext cx="3017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16A34A"/>
                </a:solidFill>
                <a:latin typeface="Aptos Display"/>
              </a:rPr>
              <a:t>Random Forest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Aptos"/>
              </a:rPr>
              <a:t>BEST OVERALL BALANCE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977639"/>
            <a:ext cx="3017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2563EB"/>
                </a:solidFill>
                <a:latin typeface="Aptos Display"/>
              </a:rPr>
              <a:t>Logistic Regression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Aptos"/>
              </a:rPr>
              <a:t>BEST RECALL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977639"/>
            <a:ext cx="2743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DC2626"/>
                </a:solidFill>
                <a:latin typeface="Aptos Display"/>
              </a:rPr>
              <a:t>83.70%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Aptos"/>
              </a:rPr>
              <a:t>RF 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 Display"/>
              </a:rPr>
              <a:t>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ptos"/>
              </a:rPr>
              <a:t>PAGE 1 — ATTRITION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• KPI cards: Total Employees, Total Attritions, Attrition Rate, Average Tenure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• Slicers: Department, Gender, JobRole, OverTime, BusinessTravel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• Attrition by department, job role, overtime and job satisfaction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• Monthly Income vs Years at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ptos"/>
              </a:rPr>
              <a:t>PAGE 2 — PERFORMANCE &amp; RISK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• KPI cards: High Risk Employees and Overtime Attrition Rate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• Model comparison using Logistic Regression and Random Forest ROC-AUC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• Department, job-role, job-satisfaction and business-travel analysis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• DAX measures support interactive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5074920"/>
            <a:ext cx="32918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2563EB"/>
                </a:solidFill>
                <a:latin typeface="Aptos Display"/>
              </a:rPr>
              <a:t>6+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Aptos"/>
              </a:rPr>
              <a:t>DAX MEASURES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 Display"/>
              </a:rPr>
              <a:t>Key Takeaways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ptos"/>
              </a:rPr>
              <a:t>WHAT THE PROJECT DELIVERS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Aptos"/>
              </a:defRPr>
            </a:pPr>
            <a:r>
              <a:t>• A complete workflow from data cleaning to predictive modeling and BI.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Aptos"/>
              </a:defRPr>
            </a:pPr>
            <a:r>
              <a:t>• Random Forest provides the strongest overall model performance.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Aptos"/>
              </a:defRPr>
            </a:pPr>
            <a:r>
              <a:t>• Logistic Regression provides higher recall when catching more attrition cases is the priority.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ptos"/>
              </a:rPr>
              <a:t>RECOMMENDED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• Review overtime-heavy teams and workload balance.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• Target low-satisfaction groups with manager interventions.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• Strengthen early-tenure support and onboarding.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• Review promotion pathways and career progression.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• Use predictions as decision support—not automatic HR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